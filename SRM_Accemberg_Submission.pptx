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0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8"/>
            <a:ext cx="6820593" cy="264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5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Accemberg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SRMIST Chennai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Kanishk Jaiswal - jaiswal.Kanishk.07@gmail.com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Sudhanshu Kumar - sudhanshukumar112003@gmail.com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Chakshu Sharma - chakshusharma21s@gmail.com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Anurag Anand - anuragsujit2005@gmail.com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https://github.com/jaiswalkanishk07/VaakSetu</a:t>
            </a:r>
            <a:endParaRPr sz="1600" dirty="0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the VakaSetu AI platform, showcasing a vibrant digital interface with interconnected data streams and futuristic graphics.&#10;&#10;AI-generated content may be incorrect.">
            <a:extLst>
              <a:ext uri="{FF2B5EF4-FFF2-40B4-BE49-F238E27FC236}">
                <a16:creationId xmlns:a16="http://schemas.microsoft.com/office/drawing/2014/main" id="{640CD5EC-AD41-B48E-5656-C182504063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 err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VaakSetu</a:t>
            </a:r>
            <a:r>
              <a:rPr lang="en-US" sz="24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 – The Voice Bridge for Bharat: Interruptible Real-Time Conversational AI Platform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Standard AI operates in half-duplex (listen, think, speak)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Users frequently interrupt, correct themselves, and re-plan mid-sentence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Sequential processing causes unacceptable latency and stale conversational states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 core challenge is concurrency: running perception, reasoning, and speech on a unified timeline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"Real conversations are not turn-based. They are concurrent."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Cloud STT / TTS Platforms: </a:t>
            </a:r>
            <a:r>
              <a:rPr lang="en-US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High latency in streaming mode, no built-in state rollback upon interruption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Standard LLM Pipelines: </a:t>
            </a:r>
            <a:r>
              <a:rPr lang="en-US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High Time To First Token blocks concurrent tool execution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Traditional Dialog Trees: </a:t>
            </a:r>
            <a:r>
              <a:rPr lang="en-US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Rigid turn-taking, completely fails on mid-flow self-repairs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Generic Voice Bots: </a:t>
            </a:r>
            <a:r>
              <a:rPr lang="en-US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Single execution thread, cannot drop stale routing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-239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588211" y="1205330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Dual-Process Concurrency for Voice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Fast Path – Responsiveness: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Low-latency acknowledgments and conversational fillers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Slow Path – Asynchronous Reasoning: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Complex reasoning, tool execution, and data extraction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Coordination Layer – State Management: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Handles non-blocking execution and call cancellation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Parallel Execution Architecture: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Fast Path and Slow Path run concurrently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Dynamic State Snapshots: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Emits structured JSON state dynamically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Real-Time Interruption Handling: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Cancels stale in-flight reasoning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RLAIF Self-Improvement: </a:t>
            </a:r>
            <a:r>
              <a:rPr lang="en-US" sz="1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Automated evaluation of agent performance</a:t>
            </a:r>
          </a:p>
        </p:txBody>
      </p:sp>
      <p:sp>
        <p:nvSpPr>
          <p:cNvPr id="902" name="Content 902"/>
          <p:cNvSpPr txBox="1"/>
          <p:nvPr/>
        </p:nvSpPr>
        <p:spPr>
          <a:xfrm>
            <a:off x="588211" y="4921752"/>
            <a:ext cx="5120640" cy="2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End-to-End System Architecture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WebRTC / WebSocket ingress for continuous streaming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Transcription and Language ID layer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Parallel Orchestration via </a:t>
            </a:r>
            <a:r>
              <a:rPr lang="en-US" sz="1600" b="0" i="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lang="en-US" sz="1600" b="0" i="0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500"/>
              <a:buChar char="•"/>
            </a:pP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State Snapshot persistence to Database</a:t>
            </a:r>
          </a:p>
        </p:txBody>
      </p:sp>
      <p:pic>
        <p:nvPicPr>
          <p:cNvPr id="3" name="Picture 2" descr="The diagram illustrates a concurrent execution architecture for real-time voice processing, detailing components like dual-process concurrency, fast and slow paths, user audio, transcription, and various layers of processing such as Firebase, language identification, and async reasoning.&#10;&#10;AI-generated content may be incorrect.">
            <a:extLst>
              <a:ext uri="{FF2B5EF4-FFF2-40B4-BE49-F238E27FC236}">
                <a16:creationId xmlns:a16="http://schemas.microsoft.com/office/drawing/2014/main" id="{A381B61D-D1C5-DFE0-1358-0457478DC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035" y="1108236"/>
            <a:ext cx="4791754" cy="2361801"/>
          </a:xfrm>
          <a:prstGeom prst="rect">
            <a:avLst/>
          </a:prstGeom>
        </p:spPr>
      </p:pic>
      <p:pic>
        <p:nvPicPr>
          <p:cNvPr id="5" name="Picture 4" descr="The diagram illustrates a process where a user interrupts a mid-sentence request, leading to a state rollback, cancellation of in-flight requests, and a revised intent extraction to London.&#10;&#10;AI-generated content may be incorrect.">
            <a:extLst>
              <a:ext uri="{FF2B5EF4-FFF2-40B4-BE49-F238E27FC236}">
                <a16:creationId xmlns:a16="http://schemas.microsoft.com/office/drawing/2014/main" id="{27183758-E455-57B6-ADAD-652020AF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035" y="3551128"/>
            <a:ext cx="4791754" cy="3028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Execution &amp; Interruption Handling Demo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Open dashboard, select domain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Start streaming audio via WebSocket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User speaks, pauses, and interrupts themselves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Agent executes Fast Path acknowledgment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Agent updates State Snapshot via Slow Path extraction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Interruption triggers cancellation of stale API calls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Final JSON payload emitted with correct intent and slots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+mj-lt"/>
              <a:buAutoNum type="arabicPeriod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View RLAIF evaluation score post-session</a:t>
            </a:r>
          </a:p>
        </p:txBody>
      </p:sp>
      <p:sp>
        <p:nvSpPr>
          <p:cNvPr id="904" name="Content 904"/>
          <p:cNvSpPr txBox="1"/>
          <p:nvPr/>
        </p:nvSpPr>
        <p:spPr>
          <a:xfrm>
            <a:off x="6233160" y="1825625"/>
            <a:ext cx="5120640" cy="2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Monitoring Concurrent Execution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400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Agent Builder: </a:t>
            </a: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Define schemas and parameters for Slow Path extraction. Configures the state payload structure.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400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Session Interface: </a:t>
            </a: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View Fast Path responses alongside live State Snapshots updating in real-time.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400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Trace Logging &amp; Analytics: </a:t>
            </a:r>
            <a:r>
              <a:rPr lang="en-US" sz="16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Monitor latency to first substantive action, transcription chunks, and tool execution status.</a:t>
            </a:r>
          </a:p>
        </p:txBody>
      </p:sp>
      <p:sp>
        <p:nvSpPr>
          <p:cNvPr id="903" name="Image placeholder 903"/>
          <p:cNvSpPr/>
          <p:nvPr/>
        </p:nvSpPr>
        <p:spPr>
          <a:xfrm>
            <a:off x="6233160" y="4725625"/>
            <a:ext cx="5120640" cy="1450000"/>
          </a:xfrm>
          <a:prstGeom prst="roundRect">
            <a:avLst>
              <a:gd name="adj" fmla="val 6000"/>
            </a:avLst>
          </a:prstGeom>
          <a:noFill/>
          <a:ln w="12700" cap="flat" cmpd="sng">
            <a:solidFill>
              <a:srgbClr val="D9D3F0"/>
            </a:solidFill>
            <a:prstDash val="dash"/>
          </a:ln>
        </p:spPr>
        <p:txBody>
          <a:bodyPr spcFirstLastPara="1" wrap="square" lIns="182880" tIns="91425" rIns="182880" bIns="91425" anchor="ctr" anchorCtr="0">
            <a:noAutofit/>
          </a:bodyPr>
          <a:lstStyle/>
          <a:p>
            <a:pPr marL="0" lvl="0" indent="0" algn="ctr" rtl="0">
              <a:buNone/>
            </a:pPr>
            <a:r>
              <a:rPr lang="en-US" sz="1200" b="0" i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[Insert Image: Dashboard UI showing live transcription, latency metrics, and state extraction]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sz="32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Backend: </a:t>
            </a:r>
            <a:r>
              <a:rPr lang="en-US" sz="32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Python 3.10, FastAPI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sz="32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lang="en-US" sz="32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Next.js 15, React 19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sz="32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Database: </a:t>
            </a:r>
            <a:r>
              <a:rPr lang="en-US" sz="32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Firebase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sz="32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AI &amp; Orchestration: </a:t>
            </a:r>
            <a:r>
              <a:rPr lang="en-US" sz="32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Sarvam AI, Gemini 2.0 Flash, </a:t>
            </a:r>
            <a:r>
              <a:rPr lang="en-US" sz="3200" b="0" i="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lang="en-US" sz="3200" b="0" i="0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200"/>
              <a:buChar char="•"/>
            </a:pPr>
            <a:r>
              <a:rPr lang="en-US" sz="32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Streaming: </a:t>
            </a:r>
            <a:r>
              <a:rPr lang="en-US" sz="32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WebRTC / WebSocket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Production-Ready Interruptible Voice AI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Drastically reduces Time-To-First-Action for complex voice queries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Zero duplicate state-changing calls during rapid user interruptions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2000"/>
              <a:buChar char="•"/>
            </a:pPr>
            <a:r>
              <a:rPr lang="en-US" sz="24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Seamlessly handles code-mixed Indian languages</a:t>
            </a:r>
          </a:p>
        </p:txBody>
      </p:sp>
      <p:sp>
        <p:nvSpPr>
          <p:cNvPr id="905" name="Content 905"/>
          <p:cNvSpPr txBox="1"/>
          <p:nvPr/>
        </p:nvSpPr>
        <p:spPr>
          <a:xfrm>
            <a:off x="623316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Extracting symptoms, diagnosis, and treatment plan mid-consultation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Resolving speech hesitations and conversational self-repairs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Gracefully handling interruptions without dropping prior context</a:t>
            </a:r>
          </a:p>
          <a:p>
            <a:pPr marL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Financial Services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Adjusting parameters mid-interaction (e.g., changing payment promises)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Strictly avoiding duplicate state-modifying calls (double-booking)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20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Emitting updated State Snapshots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Concurrency in Action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Fast Path: Floor Management: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Issues meaningful responses quickly without making false completion claims. Manages audio playback and conversational fillers.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Slow Path: Structured Extraction: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Parses dynamic tool definitions. Extracts data using LLMs without blocking the fast path.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Coordination: Interruption Recovery: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Cancels superseded in-flight tool calls. Updates state snapshots and re-plans cleanly upon user interruption.</a:t>
            </a:r>
          </a:p>
        </p:txBody>
      </p:sp>
      <p:sp>
        <p:nvSpPr>
          <p:cNvPr id="907" name="Content 907"/>
          <p:cNvSpPr txBox="1"/>
          <p:nvPr/>
        </p:nvSpPr>
        <p:spPr>
          <a:xfrm>
            <a:off x="623316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Evaluating Interruptible Agents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40% Programmatic (Instant):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Response Latency, Interruption Recovery Speed, Cancellation of Invalidated Calls, Absence of Stale Re-runs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60% LLM Judge (Gemini):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Task Completion Accuracy, State Snapshot Accuracy, Protocol Compliance, Final Response Grounding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600"/>
              <a:buChar char="•"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1800" b="0" i="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Score above 0.70: DPO label chosen. Score below 0.70: DPO label rejected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Parallel execution reduces perceived latency drastically while maintaining state consistency.</a:t>
            </a:r>
          </a:p>
        </p:txBody>
      </p:sp>
      <p:sp>
        <p:nvSpPr>
          <p:cNvPr id="906" name="Image placeholder 906"/>
          <p:cNvSpPr/>
          <p:nvPr/>
        </p:nvSpPr>
        <p:spPr>
          <a:xfrm>
            <a:off x="838200" y="5125625"/>
            <a:ext cx="5120640" cy="1050000"/>
          </a:xfrm>
          <a:prstGeom prst="roundRect">
            <a:avLst>
              <a:gd name="adj" fmla="val 6000"/>
            </a:avLst>
          </a:prstGeom>
          <a:noFill/>
          <a:ln w="12700" cap="flat" cmpd="sng">
            <a:solidFill>
              <a:srgbClr val="D9D3F0"/>
            </a:solidFill>
            <a:prstDash val="dash"/>
          </a:ln>
        </p:spPr>
        <p:txBody>
          <a:bodyPr spcFirstLastPara="1" wrap="square" lIns="182880" tIns="91425" rIns="182880" bIns="91425" anchor="ctr" anchorCtr="0">
            <a:noAutofit/>
          </a:bodyPr>
          <a:lstStyle/>
          <a:p>
            <a:pPr marL="0" lvl="0" indent="0" algn="ctr" rtl="0">
              <a:buNone/>
            </a:pPr>
            <a:r>
              <a:rPr lang="en-US" sz="1200" b="0" i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[Insert Image: Working Pipeline showing Concurrent Execution and Interruption Signals]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Structured State Tracking in Real-Time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 i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Session-Scoped Memory: </a:t>
            </a: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Maintains intent and slot values across multi-turn interactions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 i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Incremental Extraction: </a:t>
            </a: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Maps user speech to specific schemas (e.g., Healthcare, Finance) concurrently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 i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Protocol Compliance: </a:t>
            </a: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Emits well-formed JSON payloads (State Snapshots) upon turn completion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1" i="0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Idempotent Updates: </a:t>
            </a: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Strictly avoids duplicate state-changing calls during rapid interruptions</a:t>
            </a:r>
          </a:p>
        </p:txBody>
      </p:sp>
      <p:sp>
        <p:nvSpPr>
          <p:cNvPr id="908" name="Content 908"/>
          <p:cNvSpPr txBox="1"/>
          <p:nvPr/>
        </p:nvSpPr>
        <p:spPr>
          <a:xfrm>
            <a:off x="6233160" y="1825625"/>
            <a:ext cx="5120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Schema-Driven Tools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Switch domains with one config change. No retraining required.</a:t>
            </a:r>
          </a:p>
          <a:p>
            <a:pPr marL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Built on Open Research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3637E"/>
              </a:buClr>
              <a:buSzPts val="1800"/>
              <a:buChar char="•"/>
            </a:pPr>
            <a:r>
              <a:rPr lang="en-US" sz="1800" b="0" i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RLAIF (Google Brain), DPO (Stanford)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909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Brownie points slide( differentiation)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Kanishk Jaiswal</cp:lastModifiedBy>
  <cp:revision>4</cp:revision>
  <dcterms:created xsi:type="dcterms:W3CDTF">2026-09-07T12:01:01Z</dcterms:created>
  <dcterms:modified xsi:type="dcterms:W3CDTF">2026-09-30T18:20:26Z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